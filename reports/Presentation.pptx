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NAV Trends — 5 Key Schemes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SBI Bluechip</c:v>
                </c:pt>
              </c:strCache>
            </c:strRef>
          </c:tx>
          <c:spPr>
            <a:ln w="25400" cap="flat">
              <a:solidFill>
                <a:srgbClr val="0A234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A2342"/>
              </a:solidFill>
              <a:ln w="9525" cap="flat">
                <a:solidFill>
                  <a:srgbClr val="0A234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 22</c:v>
                </c:pt>
                <c:pt idx="1">
                  <c:v>Jan 23</c:v>
                </c:pt>
                <c:pt idx="2">
                  <c:v>Jan 24</c:v>
                </c:pt>
                <c:pt idx="3">
                  <c:v>Jan 25</c:v>
                </c:pt>
                <c:pt idx="4">
                  <c:v>May 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60</c:v>
                </c:pt>
                <c:pt idx="2">
                  <c:v>71</c:v>
                </c:pt>
                <c:pt idx="3">
                  <c:v>84</c:v>
                </c:pt>
                <c:pt idx="4">
                  <c:v>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2ED-45E5-AA30-34E7674AA0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ICICI Bluechip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 22</c:v>
                </c:pt>
                <c:pt idx="1">
                  <c:v>Jan 23</c:v>
                </c:pt>
                <c:pt idx="2">
                  <c:v>Jan 24</c:v>
                </c:pt>
                <c:pt idx="3">
                  <c:v>Jan 25</c:v>
                </c:pt>
                <c:pt idx="4">
                  <c:v>May 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</c:v>
                </c:pt>
                <c:pt idx="1">
                  <c:v>57</c:v>
                </c:pt>
                <c:pt idx="2">
                  <c:v>68</c:v>
                </c:pt>
                <c:pt idx="3">
                  <c:v>79</c:v>
                </c:pt>
                <c:pt idx="4">
                  <c:v>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2ED-45E5-AA30-34E7674AA09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Axis Bluechip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 22</c:v>
                </c:pt>
                <c:pt idx="1">
                  <c:v>Jan 23</c:v>
                </c:pt>
                <c:pt idx="2">
                  <c:v>Jan 24</c:v>
                </c:pt>
                <c:pt idx="3">
                  <c:v>Jan 25</c:v>
                </c:pt>
                <c:pt idx="4">
                  <c:v>May 26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44</c:v>
                </c:pt>
                <c:pt idx="1">
                  <c:v>50</c:v>
                </c:pt>
                <c:pt idx="2">
                  <c:v>62</c:v>
                </c:pt>
                <c:pt idx="3">
                  <c:v>74</c:v>
                </c:pt>
                <c:pt idx="4">
                  <c:v>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2ED-45E5-AA30-34E7674AA09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Kotak Bluechip</c:v>
                </c:pt>
              </c:strCache>
            </c:strRef>
          </c:tx>
          <c:spPr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 22</c:v>
                </c:pt>
                <c:pt idx="1">
                  <c:v>Jan 23</c:v>
                </c:pt>
                <c:pt idx="2">
                  <c:v>Jan 24</c:v>
                </c:pt>
                <c:pt idx="3">
                  <c:v>Jan 25</c:v>
                </c:pt>
                <c:pt idx="4">
                  <c:v>May 26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46</c:v>
                </c:pt>
                <c:pt idx="1">
                  <c:v>54</c:v>
                </c:pt>
                <c:pt idx="2">
                  <c:v>65</c:v>
                </c:pt>
                <c:pt idx="3">
                  <c:v>77</c:v>
                </c:pt>
                <c:pt idx="4">
                  <c:v>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92ED-45E5-AA30-34E7674AA09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Nippon Large Cap</c:v>
                </c:pt>
              </c:strCache>
            </c:strRef>
          </c:tx>
          <c:spPr>
            <a:ln w="2540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 22</c:v>
                </c:pt>
                <c:pt idx="1">
                  <c:v>Jan 23</c:v>
                </c:pt>
                <c:pt idx="2">
                  <c:v>Jan 24</c:v>
                </c:pt>
                <c:pt idx="3">
                  <c:v>Jan 25</c:v>
                </c:pt>
                <c:pt idx="4">
                  <c:v>May 26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41</c:v>
                </c:pt>
                <c:pt idx="1">
                  <c:v>50</c:v>
                </c:pt>
                <c:pt idx="2">
                  <c:v>63</c:v>
                </c:pt>
                <c:pt idx="3">
                  <c:v>78</c:v>
                </c:pt>
                <c:pt idx="4">
                  <c:v>90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92ED-45E5-AA30-34E7674AA0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SIP Inflow Growth (₹ Crore)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(₹ Cr)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May 22</c:v>
                </c:pt>
                <c:pt idx="1">
                  <c:v>Nov 22</c:v>
                </c:pt>
                <c:pt idx="2">
                  <c:v>May 23</c:v>
                </c:pt>
                <c:pt idx="3">
                  <c:v>Nov 23</c:v>
                </c:pt>
                <c:pt idx="4">
                  <c:v>May 24</c:v>
                </c:pt>
                <c:pt idx="5">
                  <c:v>Nov 24</c:v>
                </c:pt>
                <c:pt idx="6">
                  <c:v>May 25</c:v>
                </c:pt>
                <c:pt idx="7">
                  <c:v>Nov 25</c:v>
                </c:pt>
                <c:pt idx="8">
                  <c:v>May 26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12142</c:v>
                </c:pt>
                <c:pt idx="1">
                  <c:v>13307</c:v>
                </c:pt>
                <c:pt idx="2">
                  <c:v>14749</c:v>
                </c:pt>
                <c:pt idx="3">
                  <c:v>17073</c:v>
                </c:pt>
                <c:pt idx="4">
                  <c:v>20371</c:v>
                </c:pt>
                <c:pt idx="5">
                  <c:v>25323</c:v>
                </c:pt>
                <c:pt idx="6">
                  <c:v>28235</c:v>
                </c:pt>
                <c:pt idx="7">
                  <c:v>29303</c:v>
                </c:pt>
                <c:pt idx="8">
                  <c:v>31002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5D-4902-BCAD-69C0C0A6F1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5 Schemes — 1Y / 3Y / 5Y Returns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Yr Return (%)</c:v>
                </c:pt>
              </c:strCache>
            </c:strRef>
          </c:tx>
          <c:spPr>
            <a:solidFill>
              <a:srgbClr val="0A234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ABSL Small Cap</c:v>
                </c:pt>
                <c:pt idx="1">
                  <c:v>SBI Bluechip</c:v>
                </c:pt>
                <c:pt idx="2">
                  <c:v>Nippon LC</c:v>
                </c:pt>
                <c:pt idx="3">
                  <c:v>ICICI Bluechip</c:v>
                </c:pt>
                <c:pt idx="4">
                  <c:v>Kotak Bluechip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24.9</c:v>
                </c:pt>
                <c:pt idx="1">
                  <c:v>18.2</c:v>
                </c:pt>
                <c:pt idx="2">
                  <c:v>21.5</c:v>
                </c:pt>
                <c:pt idx="3">
                  <c:v>17.8</c:v>
                </c:pt>
                <c:pt idx="4">
                  <c:v>16.899999999999999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28-4950-8F26-A9A014CDC6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 Yr Return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ABSL Small Cap</c:v>
                </c:pt>
                <c:pt idx="1">
                  <c:v>SBI Bluechip</c:v>
                </c:pt>
                <c:pt idx="2">
                  <c:v>Nippon LC</c:v>
                </c:pt>
                <c:pt idx="3">
                  <c:v>ICICI Bluechip</c:v>
                </c:pt>
                <c:pt idx="4">
                  <c:v>Kotak Bluechip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23.4</c:v>
                </c:pt>
                <c:pt idx="1">
                  <c:v>16.399999999999999</c:v>
                </c:pt>
                <c:pt idx="2">
                  <c:v>19.2</c:v>
                </c:pt>
                <c:pt idx="3">
                  <c:v>15.9</c:v>
                </c:pt>
                <c:pt idx="4">
                  <c:v>15.2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28-4950-8F26-A9A014CDC6F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 Yr Return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ABSL Small Cap</c:v>
                </c:pt>
                <c:pt idx="1">
                  <c:v>SBI Bluechip</c:v>
                </c:pt>
                <c:pt idx="2">
                  <c:v>Nippon LC</c:v>
                </c:pt>
                <c:pt idx="3">
                  <c:v>ICICI Bluechip</c:v>
                </c:pt>
                <c:pt idx="4">
                  <c:v>Kotak Bluechip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19.100000000000001</c:v>
                </c:pt>
                <c:pt idx="1">
                  <c:v>14.8</c:v>
                </c:pt>
                <c:pt idx="2">
                  <c:v>17.3</c:v>
                </c:pt>
                <c:pt idx="3">
                  <c:v>14.2</c:v>
                </c:pt>
                <c:pt idx="4">
                  <c:v>13.8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28-4950-8F26-A9A014CDC6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Schemes by Sharpe Ratio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Ratio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Scheme A</c:v>
                </c:pt>
                <c:pt idx="1">
                  <c:v>Scheme B</c:v>
                </c:pt>
                <c:pt idx="2">
                  <c:v>Scheme C</c:v>
                </c:pt>
                <c:pt idx="3">
                  <c:v>Scheme D</c:v>
                </c:pt>
                <c:pt idx="4">
                  <c:v>Scheme E</c:v>
                </c:pt>
                <c:pt idx="5">
                  <c:v>Scheme 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7.68</c:v>
                </c:pt>
                <c:pt idx="1">
                  <c:v>6.43</c:v>
                </c:pt>
                <c:pt idx="2">
                  <c:v>5.92</c:v>
                </c:pt>
                <c:pt idx="3">
                  <c:v>5.71</c:v>
                </c:pt>
                <c:pt idx="4">
                  <c:v>5.44</c:v>
                </c:pt>
                <c:pt idx="5">
                  <c:v>5.12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18-4DB6-BFB2-1F34061D35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61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 and the project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business context: why analyzing mutual fund data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CSV datasets provided by Bluestock Fintech. Total of ~87,500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4-stage pipeline: Extract, Transform, Load, Analyze.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finding: All 5 bluechip schemes showed consistent upward NAV trend from 2022 to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SIP inflows have grown 2.5x from 2022 to 2026. Punjab tops investor volumes.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ABSL Small Cap leads all return periods. Bluechip funds show consistent 14-18% 3yr CAGR.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Sharpe ratio above 1.0 is good; above 3.0 is excellent. Our best scheme hits 7.68.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has 4 main panels. Demo it live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6 key findings from the entire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limitations — it shows analytical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panel.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Data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Data Analyst Internship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Kasireddy Bharath Hari Kumar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(AI/ML) | Uttaranchal University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ID: BFDA56877  |  May 28 – July 28,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24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is scattered across NAV records, AUM figures, SIP inflows, investor transactions, and portfolio holdings — making holistic analysis difficult for fund managers and retail investors alike.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24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ETL pipeline, perform deep EDA across 10 datasets, and deliver actionable insights via SQL queries and an interactive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1051560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5156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" y="1033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1298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 × 15 cols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28216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819656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81965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801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20665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 records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9631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2587752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58775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2569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by Fund House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records × 5 cols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6440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355848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35584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3602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months of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32504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123944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12394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" y="4105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6112" y="4370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records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9601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36592" y="1051560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05156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93792" y="1033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 Count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93792" y="1298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months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728216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36592" y="1819656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181965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93792" y="1801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Performance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93792" y="20665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 × 19 metrics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249631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36592" y="2587752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258775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93792" y="2569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93792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transactions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26440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36592" y="3355848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335584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93792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93792" y="3602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 stock positions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4032504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36592" y="4123944"/>
            <a:ext cx="384048" cy="47548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412394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93792" y="4105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Indices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93792" y="4370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8,050 daily records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20240" cy="2560320"/>
          </a:xfrm>
          <a:prstGeom prst="roundRect">
            <a:avLst>
              <a:gd name="adj" fmla="val 6667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10 CSVs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Live NAV 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(mfapi.in)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2560320"/>
          </a:xfrm>
          <a:prstGeom prst="roundRect">
            <a:avLst>
              <a:gd name="adj" fmla="val 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nulls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AMFI codes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dates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920240" cy="2560320"/>
          </a:xfrm>
          <a:prstGeom prst="roundRect">
            <a:avLst>
              <a:gd name="adj" fmla="val 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73736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queries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949440" y="1097280"/>
            <a:ext cx="1920240" cy="256032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173736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+ 16 Charts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77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9776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977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39776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977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4348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434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+ Seaborn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44348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4434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443484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4434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NAV &amp; AUM Analysis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852160" y="914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— Top Fund Houses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852160" y="137160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89320" y="17190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₹11.2L Cr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2176272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2249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MF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89320" y="25237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₹9.8L Cr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2980944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3054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MF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89320" y="33284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₹8.4L Cr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52160" y="3785616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3858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MF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89320" y="4133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₹7.1L Cr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52160" y="457200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4572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Industry AUM: ₹62.74 Lakh Crore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SIP &amp; Investor Trends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91440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89320" y="9875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32,778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989320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92024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89320" y="19933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92.0%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89320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0" y="292608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89320" y="29992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9.35 Cr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989320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Accounts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52160" y="3886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Snapshot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52160" y="420624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4251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leads by volume | SIP is dominant mode | 92% KYC compliant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Scheme Performance Metrics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84124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Risk-Adjusted Performance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91440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806440" y="987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7.68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806440" y="1435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Sharpe Ratio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06440" y="16733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risk-adjusted return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0" y="219456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06440" y="22677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806440" y="2715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Expense (Direct)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06440" y="2953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1.35% Regular plans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347472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06440" y="35478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806440" y="3995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Expense (Regular)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06440" y="4233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saves 0.57% annually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6928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Direct plans save investors 0.57% annually in expense ratio — compounding significantly over 10+ years.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Tracker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line chart for all 5 key schemes with date range selector and scheme filter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840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91440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24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Growth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SIP inflow bar chart with YoY growth percentage overlay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508760"/>
            <a:ext cx="3840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01752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27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Comparison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1Y/3Y/5Y return comparison with sortable performance 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3840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01752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10896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127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6118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heatmap, age group breakdown, and payment mode distribution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3611880"/>
            <a:ext cx="3840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built using Plotly Dash  •  Fully interactive  •  Runs locally on localhost:8050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10972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069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Growth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bluechip schemes delivered 80–100% cumulative returns from Jan 2022 to May 2026, outperforming benchmarks consistently.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64608" y="10972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49240" y="1069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Boom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1371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 grew from ₹12,142 Cr (May 2022) to ₹31,002 Cr (May 2026) — a 155% increase in 4 years.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4688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441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&gt; Regular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7432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plan expense ratio averages 0.78% vs 1.35% for regular — investors save significantly by choosing direct plans.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3317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64608" y="24688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2441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Dominance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27432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 sector constitutes the largest portfolio weight across all equity schemes, indicating high sectoral concentration risk.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033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840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813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Compliance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114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32,778 transactions are KYC verified. Punjab leads all states in transaction volume, followed by Maharashtra and UP.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7033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64608" y="3840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3813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4114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datasets loaded cleanly. AMFI code validation shows 100% consistency between fund master and NAV history tables.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120640" cy="397764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should prefer Direct plans to save 0.57% annually in expense ratio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beyond Banking sector — current concentration poses systematic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2374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remains the preferred investment mode — automate SIP tracking dashboards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540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code standardization is excellent — maintain this for future data ingestion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844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live NAV fetch to cover all 40 schemes for real-time monitoring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914400"/>
            <a:ext cx="3108960" cy="3977640"/>
          </a:xfrm>
          <a:prstGeom prst="roundRect">
            <a:avLst>
              <a:gd name="adj" fmla="val 352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52160" y="1463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only — no real-time feeds beyond HDFC Top 100 NAV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148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sentiment or news data included in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2834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runs locally — not yet deployed to cloud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3520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implications not modeled in return calculations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7315200" cy="3657600"/>
          </a:xfrm>
          <a:prstGeom prst="roundRect">
            <a:avLst>
              <a:gd name="adj" fmla="val 5000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0584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097280" y="210312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Data Analyst Internship  • 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2606040"/>
            <a:ext cx="45720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78892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Kasireddy Bharath Hari Kumar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136392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kasireddybharath2005@gmail.com   •   +91 9581743295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483864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github.com/kasireddybharath2005-bit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928</Words>
  <Application>Microsoft Office PowerPoint</Application>
  <PresentationFormat>On-screen Show (16:9)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</dc:title>
  <dc:subject>PptxGenJS Presentation</dc:subject>
  <dc:creator>Kasireddy Bharath Hari Kumar</dc:creator>
  <cp:lastModifiedBy>kasireddy bharath</cp:lastModifiedBy>
  <cp:revision>1</cp:revision>
  <dcterms:created xsi:type="dcterms:W3CDTF">2026-06-11T05:21:04Z</dcterms:created>
  <dcterms:modified xsi:type="dcterms:W3CDTF">2026-06-11T09:04:04Z</dcterms:modified>
</cp:coreProperties>
</file>